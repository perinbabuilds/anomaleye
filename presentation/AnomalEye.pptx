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Money laundering is a needle-in-a-haystack problem: the true rate is a fraction of a percent, buried in millions of transactions. Banks are legally required to catch it and file Suspicious Activity Reports. But the tooling forces a bad trade-off. One: rule engines flood analysts — industry transaction monitoring runs at up to ~95% false positives, so skilled people spend their day closing dead-end alerts. Two: those rules are rigid, so sophisticated, evolving schemes slip straight through. Three: the obvious fix — throw an AI model at it — gives you a score you can't defend to a regulator. So the real problem is: how do you get flexible, plain-English investigation AND fully auditable, reproducible evidence at the same time?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AnomalEye closes that gap. You type a question in plain English — 'find structuring in the last 30 days', 'is customer 1528 suspicious?'. An LLM agent reads the intent and builds a plan by calling a planning function, then runs only the tools that question needs. The key design decision — and this is what makes it defensible — is that the LLM decides WHAT to analyse, never WHAT the answer is. All the detection math is deterministic: rule detectors for the four classic typologies plus an Isolation Forest, every threshold anchored to real US regulation, the $10,000 CTR reporting line. The model can pick the tools; it can't invent a number. For every customer it produces a risk band and a recommended action — monitor, review, or file a report — and explains each flag by quoting the exact figures that triggered it. It even runs with no LLM key at all: a deterministic rule engine is the automatic fallback, so the product never hard-depends on an external API. It's real and measured: 40,000+ transactions across 800 customers, all four typologies detected end to end, precision/recall/F1 scored against held-out ground truth, 41 backend tests, one Docker container, and a live demo you can open right now.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3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2775" y="457200"/>
            <a:ext cx="310896" cy="31089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59391" y="4206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AnomalEye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24128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Fighting money laundering means choosing between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noise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and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 boxes.</a:t>
            </a:r>
            <a:endParaRPr lang="en-US" sz="33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81051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C4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must find laundering hidden in millions of transactions — without burying their analysts, and without losing the regulator's trust. Today's tools force a trade-off.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5420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failures </a:t>
            </a:r>
            <a:pPr algn="l" indent="0" marL="0">
              <a:buNone/>
            </a:pPr>
            <a:r>
              <a:rPr lang="en-US" sz="1450" dirty="0">
                <a:solidFill>
                  <a:srgbClr val="C4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into one impossible choice: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3035808"/>
            <a:ext cx="3472586" cy="2468880"/>
          </a:xfrm>
          <a:prstGeom prst="roundRect">
            <a:avLst>
              <a:gd name="adj" fmla="val 3333"/>
            </a:avLst>
          </a:prstGeom>
          <a:solidFill>
            <a:srgbClr val="172033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" y="3364992"/>
            <a:ext cx="676656" cy="676656"/>
          </a:xfrm>
          <a:prstGeom prst="ellipse">
            <a:avLst/>
          </a:prstGeom>
          <a:solidFill>
            <a:srgbClr val="2A1C2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354787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77824" y="4261104"/>
            <a:ext cx="290565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engines drown analysts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877824" y="4828032"/>
            <a:ext cx="29239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monitoring fires on up to ~95% false positives. Skilled investigators burn their day triaging alerts that lead nowhere.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59554" y="3035808"/>
            <a:ext cx="3472586" cy="2468880"/>
          </a:xfrm>
          <a:prstGeom prst="roundRect">
            <a:avLst>
              <a:gd name="adj" fmla="val 3333"/>
            </a:avLst>
          </a:prstGeom>
          <a:solidFill>
            <a:srgbClr val="172033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70450" y="3364992"/>
            <a:ext cx="676656" cy="676656"/>
          </a:xfrm>
          <a:prstGeom prst="ellipse">
            <a:avLst/>
          </a:prstGeom>
          <a:solidFill>
            <a:srgbClr val="2A1C2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330" y="354787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70450" y="4261104"/>
            <a:ext cx="290565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rules miss the clever ones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4670450" y="4828032"/>
            <a:ext cx="29239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Structuring, smurfing, layering and rapid cash-out keep evolving — faster than hand-written thresholds can be rewritten.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52181" y="3035808"/>
            <a:ext cx="3472586" cy="2468880"/>
          </a:xfrm>
          <a:prstGeom prst="roundRect">
            <a:avLst>
              <a:gd name="adj" fmla="val 3333"/>
            </a:avLst>
          </a:prstGeom>
          <a:solidFill>
            <a:srgbClr val="172033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463077" y="3364992"/>
            <a:ext cx="676656" cy="676656"/>
          </a:xfrm>
          <a:prstGeom prst="ellipse">
            <a:avLst/>
          </a:prstGeom>
          <a:solidFill>
            <a:srgbClr val="2A1C2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957" y="354787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463077" y="4261104"/>
            <a:ext cx="290565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score you can't explain won't fly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8463077" y="4828032"/>
            <a:ext cx="29239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risk number isn't defensible. A regulator — and a court — needs the evidence behind every flag, not a black box.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66928" y="5797296"/>
            <a:ext cx="11057839" cy="603504"/>
          </a:xfrm>
          <a:prstGeom prst="roundRect">
            <a:avLst>
              <a:gd name="adj" fmla="val 12121"/>
            </a:avLst>
          </a:prstGeom>
          <a:solidFill>
            <a:srgbClr val="1D2942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68680" y="5797296"/>
            <a:ext cx="104543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gap: 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flexible investigation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auditable evidence — never both. Compliance needs both.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2FBF9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300" kern="0" dirty="0">
                <a:solidFill>
                  <a:srgbClr val="2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2775" y="457200"/>
            <a:ext cx="310896" cy="31089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59391" y="4206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AnomalEye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058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in plain English. The agent runs the 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2FBF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investigation.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5727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4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decides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i="1" dirty="0">
                <a:solidFill>
                  <a:srgbClr val="2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4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check — never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i="1" dirty="0">
                <a:solidFill>
                  <a:srgbClr val="2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answer is.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4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detection math stays deterministic, auditable, and reproducible.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212848"/>
            <a:ext cx="2476424" cy="786384"/>
          </a:xfrm>
          <a:prstGeom prst="roundRect">
            <a:avLst>
              <a:gd name="adj" fmla="val 9302"/>
            </a:avLst>
          </a:prstGeom>
          <a:solidFill>
            <a:srgbClr val="172033"/>
          </a:solidFill>
          <a:ln w="15875">
            <a:solidFill>
              <a:srgbClr val="5B8D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212848"/>
            <a:ext cx="2330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43352" y="2212848"/>
            <a:ext cx="3840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427400" y="2212848"/>
            <a:ext cx="2476424" cy="786384"/>
          </a:xfrm>
          <a:prstGeom prst="roundRect">
            <a:avLst>
              <a:gd name="adj" fmla="val 9302"/>
            </a:avLst>
          </a:prstGeom>
          <a:solidFill>
            <a:srgbClr val="172033"/>
          </a:solidFill>
          <a:ln w="15875">
            <a:solidFill>
              <a:srgbClr val="2FBF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00552" y="2212848"/>
            <a:ext cx="2330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planner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plan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903824" y="2212848"/>
            <a:ext cx="3840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287872" y="2212848"/>
            <a:ext cx="2476424" cy="786384"/>
          </a:xfrm>
          <a:prstGeom prst="roundRect">
            <a:avLst>
              <a:gd name="adj" fmla="val 9302"/>
            </a:avLst>
          </a:prstGeom>
          <a:solidFill>
            <a:srgbClr val="172033"/>
          </a:solidFill>
          <a:ln w="15875">
            <a:solidFill>
              <a:srgbClr val="2FBF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61024" y="2212848"/>
            <a:ext cx="2330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· features · detect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explain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764295" y="2212848"/>
            <a:ext cx="3840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9148343" y="2212848"/>
            <a:ext cx="2476424" cy="786384"/>
          </a:xfrm>
          <a:prstGeom prst="roundRect">
            <a:avLst>
              <a:gd name="adj" fmla="val 9302"/>
            </a:avLst>
          </a:prstGeom>
          <a:solidFill>
            <a:srgbClr val="172033"/>
          </a:solidFill>
          <a:ln w="15875">
            <a:solidFill>
              <a:srgbClr val="5B8D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21495" y="2212848"/>
            <a:ext cx="2330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· risk band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· reasons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66928" y="3346704"/>
            <a:ext cx="566928" cy="566928"/>
          </a:xfrm>
          <a:prstGeom prst="ellipse">
            <a:avLst/>
          </a:prstGeom>
          <a:solidFill>
            <a:srgbClr val="12271F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483864"/>
            <a:ext cx="283464" cy="28346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16736" y="3291840"/>
            <a:ext cx="5422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core, not a guess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1316736" y="3602736"/>
            <a:ext cx="54223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detectors + an Isolation Forest, anchored to BSA / FinCEN law (the $10K CTR line). The model can pick the tools — it can never invent a number.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4261104"/>
            <a:ext cx="566928" cy="566928"/>
          </a:xfrm>
          <a:prstGeom prst="ellipse">
            <a:avLst/>
          </a:prstGeom>
          <a:solidFill>
            <a:srgbClr val="12271F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398264"/>
            <a:ext cx="283464" cy="28346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316736" y="4206240"/>
            <a:ext cx="5422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Scores and acts on every customer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1316736" y="4517136"/>
            <a:ext cx="54223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the four classic typologies, bands each customer low / medium / high, and recommends monitor · review · report (SAR).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66928" y="5175504"/>
            <a:ext cx="566928" cy="566928"/>
          </a:xfrm>
          <a:prstGeom prst="ellipse">
            <a:avLst/>
          </a:prstGeom>
          <a:solidFill>
            <a:srgbClr val="1227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312664"/>
            <a:ext cx="283464" cy="28346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316736" y="5120640"/>
            <a:ext cx="5422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Explains every flag — and never goes down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1316736" y="5431536"/>
            <a:ext cx="54223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flag quotes the exact figures that fired it. Runs with or without an LLM key: a deterministic engine is the automatic fallback.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7059168" y="3273552"/>
            <a:ext cx="2173072" cy="1325880"/>
          </a:xfrm>
          <a:prstGeom prst="roundRect">
            <a:avLst>
              <a:gd name="adj" fmla="val 6207"/>
            </a:avLst>
          </a:prstGeom>
          <a:solidFill>
            <a:srgbClr val="172033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3493008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296912" y="3803904"/>
            <a:ext cx="171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B8D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40K+</a:t>
            </a:r>
            <a:endParaRPr lang="en-US" sz="2600" dirty="0"/>
          </a:p>
        </p:txBody>
      </p:sp>
      <p:sp>
        <p:nvSpPr>
          <p:cNvPr id="34" name="Text 27"/>
          <p:cNvSpPr txBox="1"/>
          <p:nvPr/>
        </p:nvSpPr>
        <p:spPr>
          <a:xfrm>
            <a:off x="7315200" y="4261104"/>
            <a:ext cx="1697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scored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800 customers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9451696" y="3273552"/>
            <a:ext cx="2173072" cy="1325880"/>
          </a:xfrm>
          <a:prstGeom prst="roundRect">
            <a:avLst>
              <a:gd name="adj" fmla="val 6207"/>
            </a:avLst>
          </a:prstGeom>
          <a:solidFill>
            <a:srgbClr val="172033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7728" y="3493008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689440" y="3803904"/>
            <a:ext cx="171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BF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8" name="Text 30"/>
          <p:cNvSpPr txBox="1"/>
          <p:nvPr/>
        </p:nvSpPr>
        <p:spPr>
          <a:xfrm>
            <a:off x="9707728" y="4261104"/>
            <a:ext cx="1697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laundering typologies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end-to-end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7059168" y="4818888"/>
            <a:ext cx="2173072" cy="1325880"/>
          </a:xfrm>
          <a:prstGeom prst="roundRect">
            <a:avLst>
              <a:gd name="adj" fmla="val 6207"/>
            </a:avLst>
          </a:prstGeom>
          <a:solidFill>
            <a:srgbClr val="172033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5038344"/>
            <a:ext cx="256032" cy="25603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296912" y="5349240"/>
            <a:ext cx="171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BF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P·R·F1</a:t>
            </a:r>
            <a:endParaRPr lang="en-US" sz="2600" dirty="0"/>
          </a:p>
        </p:txBody>
      </p:sp>
      <p:sp>
        <p:nvSpPr>
          <p:cNvPr id="42" name="Text 33"/>
          <p:cNvSpPr txBox="1"/>
          <p:nvPr/>
        </p:nvSpPr>
        <p:spPr>
          <a:xfrm>
            <a:off x="7315200" y="5806440"/>
            <a:ext cx="1697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vs injected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9451696" y="4818888"/>
            <a:ext cx="2173072" cy="1325880"/>
          </a:xfrm>
          <a:prstGeom prst="roundRect">
            <a:avLst>
              <a:gd name="adj" fmla="val 6207"/>
            </a:avLst>
          </a:prstGeom>
          <a:solidFill>
            <a:srgbClr val="172033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7728" y="5038344"/>
            <a:ext cx="256032" cy="256032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9689440" y="5349240"/>
            <a:ext cx="171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B8D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2600" dirty="0"/>
          </a:p>
        </p:txBody>
      </p:sp>
      <p:sp>
        <p:nvSpPr>
          <p:cNvPr id="46" name="Text 36"/>
          <p:cNvSpPr txBox="1"/>
          <p:nvPr/>
        </p:nvSpPr>
        <p:spPr>
          <a:xfrm>
            <a:off x="9707728" y="5806440"/>
            <a:ext cx="1697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 · one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 · live demo</a:t>
            </a:r>
            <a:endParaRPr lang="en-US" sz="1100" dirty="0"/>
          </a:p>
        </p:txBody>
      </p:sp>
      <p:sp>
        <p:nvSpPr>
          <p:cNvPr id="47" name="Text 37"/>
          <p:cNvSpPr txBox="1"/>
          <p:nvPr/>
        </p:nvSpPr>
        <p:spPr>
          <a:xfrm>
            <a:off x="566928" y="63550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</a:t>
            </a:r>
            <a:pPr algn="l" indent="0" marL="0">
              <a:buNone/>
            </a:pPr>
            <a:r>
              <a:rPr lang="en-US" sz="1200" dirty="0">
                <a:solidFill>
                  <a:srgbClr val="C4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anomaleye.onrender.com</a:t>
            </a:r>
            <a:pPr algn="l" indent="0" marL="0">
              <a:buNone/>
            </a:pPr>
            <a:r>
              <a:rPr lang="en-US" sz="1200" dirty="0">
                <a:solidFill>
                  <a:srgbClr val="8B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Built with  </a:t>
            </a:r>
            <a:pPr algn="l" indent="0" marL="0">
              <a:buNone/>
            </a:pPr>
            <a:r>
              <a:rPr lang="en-US" sz="1200" dirty="0">
                <a:solidFill>
                  <a:srgbClr val="C4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scikit-learn · Groq LLM · React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AnomalEye</dc:title>
  <dc:subject>PptxGenJS Presentation</dc:subject>
  <dc:creator>Perinba Athiban</dc:creator>
  <cp:lastModifiedBy>Perinba Athiban</cp:lastModifiedBy>
  <cp:revision>1</cp:revision>
  <dcterms:created xsi:type="dcterms:W3CDTF">2026-09-01T17:09:23Z</dcterms:created>
  <dcterms:modified xsi:type="dcterms:W3CDTF">2026-09-01T17:09:23Z</dcterms:modified>
</cp:coreProperties>
</file>