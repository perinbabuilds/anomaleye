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laundering is a needle-in-a-haystack problem: the true rate is a fraction of a percent, buried in millions of transactions. Banks are legally required to catch it and file Suspicious Activity Reports. But the tooling forces a bad trade-off. One: rule engines flood analysts — industry transaction monitoring runs at up to ~95% false positives, so skilled people spend their day closing dead-end alerts. Two: those rules are rigid, so sophisticated, evolving schemes slip straight through. Three: the obvious fix — throw an AI model at it — gives you a score you can't defend to a regulator. So the real problem is: how do you get flexible, plain-English investigation AND fully auditable, reproducible evidence at the same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AnomalEye closes that gap. You type a question in plain English — 'find structuring in the last 30 days', 'is customer 1528 suspicious?'. An LLM agent reads the intent and builds a plan by calling a planning function, then runs only the tools that question needs. The key design decision — and this is what makes it defensible — is that the LLM decides WHAT to analyse, never WHAT the answer is. All the detection math is deterministic: rule detectors for the four classic typologies plus an Isolation Forest, every threshold anchored to real US regulation, the $10,000 CTR reporting line. The model can pick the tools; it can't invent a number. For every customer it produces a risk band and a recommended action — monitor, review, or file a report — and explains each flag by quoting the exact figures that triggered it. It even runs with no LLM key at all: a deterministic rule engine is the automatic fallback, so the product never hard-depends on an external API. It's real and measured: 40,000+ transactions across 800 customers, all four typologies detected end to end, precision/recall/F1 scored against held-out ground truth, 41 backend tests, one Docker container, and a live demo you can open right now.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109728" cy="10972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300" kern="0" dirty="0">
                <a:solidFill>
                  <a:srgbClr val="E5484D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PROBLEM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2775" y="457200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59391" y="402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AnomalEye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932688"/>
            <a:ext cx="11338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Fighting money laundering means</a:t>
            </a:r>
            <a:endParaRPr lang="en-US" sz="2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choosing between </a:t>
            </a:r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E5484D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noise</a:t>
            </a:r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and </a:t>
            </a:r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E5484D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black boxes.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13969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Banks must find laundering hidden in millions of transactions — without burying their analysts, and without losing the regulator's trust. Today's tools force a trade-off.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7614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548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failures </a:t>
            </a:r>
            <a:pPr algn="l" indent="0" marL="0">
              <a:buNone/>
            </a:pPr>
            <a:r>
              <a:rPr lang="en-US" sz="1450" dirty="0">
                <a:solidFill>
                  <a:srgbClr val="C4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 into one impossible choice: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3246120"/>
            <a:ext cx="3472586" cy="2286000"/>
          </a:xfrm>
          <a:prstGeom prst="roundRect">
            <a:avLst>
              <a:gd name="adj" fmla="val 3600"/>
            </a:avLst>
          </a:prstGeom>
          <a:solidFill>
            <a:srgbClr val="172033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" y="3538728"/>
            <a:ext cx="658368" cy="658368"/>
          </a:xfrm>
          <a:prstGeom prst="ellipse">
            <a:avLst/>
          </a:prstGeom>
          <a:solidFill>
            <a:srgbClr val="2A1C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71246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77824" y="432511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Rule engines drown analysts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877824" y="4892040"/>
            <a:ext cx="2923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monitoring fires on up to ~95% false positives. Skilled investigators burn their day triaging alerts that lead nowhere.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59554" y="3246120"/>
            <a:ext cx="3472586" cy="2286000"/>
          </a:xfrm>
          <a:prstGeom prst="roundRect">
            <a:avLst>
              <a:gd name="adj" fmla="val 3600"/>
            </a:avLst>
          </a:prstGeom>
          <a:solidFill>
            <a:srgbClr val="172033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70450" y="3538728"/>
            <a:ext cx="658368" cy="658368"/>
          </a:xfrm>
          <a:prstGeom prst="ellipse">
            <a:avLst/>
          </a:prstGeom>
          <a:solidFill>
            <a:srgbClr val="2A1C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86" y="371246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70450" y="432511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Fixed rules miss the clever ones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4670450" y="4892040"/>
            <a:ext cx="2923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Structuring, smurfing, layering and rapid cash-out keep evolving — faster than hand-written thresholds can be rewritten.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2181" y="3246120"/>
            <a:ext cx="3472586" cy="2286000"/>
          </a:xfrm>
          <a:prstGeom prst="roundRect">
            <a:avLst>
              <a:gd name="adj" fmla="val 3600"/>
            </a:avLst>
          </a:prstGeom>
          <a:solidFill>
            <a:srgbClr val="172033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63077" y="3538728"/>
            <a:ext cx="658368" cy="658368"/>
          </a:xfrm>
          <a:prstGeom prst="ellipse">
            <a:avLst/>
          </a:prstGeom>
          <a:solidFill>
            <a:srgbClr val="2A1C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813" y="371246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63077" y="4325112"/>
            <a:ext cx="29056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 score you can't explain won't fly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463077" y="4892040"/>
            <a:ext cx="2923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bare risk number isn't defensible. A regulator — and a court — needs the evidence behind every flag, not a black box.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66928" y="5742432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1D2942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68680" y="5742432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gap:  </a:t>
            </a:r>
            <a:pPr algn="l" indent="0" marL="0">
              <a:buNone/>
            </a:pPr>
            <a:r>
              <a:rPr lang="en-US" sz="16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get flexible investigation </a:t>
            </a:r>
            <a:pPr algn="l" indent="0" marL="0">
              <a:buNone/>
            </a:pPr>
            <a:r>
              <a:rPr lang="en-US" sz="1600" i="1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pPr algn="l" indent="0" marL="0">
              <a:buNone/>
            </a:pPr>
            <a:r>
              <a:rPr lang="en-US" sz="16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auditable evidence — never both. Compliance needs both.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109728" cy="109728"/>
          </a:xfrm>
          <a:prstGeom prst="ellipse">
            <a:avLst/>
          </a:prstGeom>
          <a:solidFill>
            <a:srgbClr val="2FBF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300" kern="0" dirty="0">
                <a:solidFill>
                  <a:srgbClr val="2FBF9E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SOLUTION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2775" y="457200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59391" y="402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AnomalEye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91440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Ask in plain English.</a:t>
            </a:r>
            <a:endParaRPr lang="en-US" sz="2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agent runs the </a:t>
            </a:r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FBF9E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investigation.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865376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4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LLM decides </a:t>
            </a:r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2FBF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4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check — never </a:t>
            </a:r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2FBF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answer is.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4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detection math stays deterministic, auditable, and reproducible.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32304"/>
            <a:ext cx="2476424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432304"/>
            <a:ext cx="233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Plain-English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043352" y="243230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27400" y="2432304"/>
            <a:ext cx="2476424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5875">
            <a:solidFill>
              <a:srgbClr val="2FBF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00552" y="2432304"/>
            <a:ext cx="233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planner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a plan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903824" y="243230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287872" y="2432304"/>
            <a:ext cx="2476424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5875">
            <a:solidFill>
              <a:srgbClr val="2FBF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61024" y="2432304"/>
            <a:ext cx="233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· features · detect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· explain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764295" y="243230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9148343" y="2432304"/>
            <a:ext cx="2476424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21495" y="2432304"/>
            <a:ext cx="233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· risk band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· reasons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3328416"/>
            <a:ext cx="548640" cy="548640"/>
          </a:xfrm>
          <a:prstGeom prst="ellipse">
            <a:avLst/>
          </a:prstGeom>
          <a:solidFill>
            <a:srgbClr val="12271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465576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98448" y="3273552"/>
            <a:ext cx="5458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Deterministic core, not a guess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1298448" y="3584448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detectors + an Isolation Forest, anchored to BSA / FinCEN law (the $10K CTR line). The model can pick the tools — it can never invent a number.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66928" y="4242816"/>
            <a:ext cx="548640" cy="548640"/>
          </a:xfrm>
          <a:prstGeom prst="ellipse">
            <a:avLst/>
          </a:prstGeom>
          <a:solidFill>
            <a:srgbClr val="12271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37997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98448" y="4187952"/>
            <a:ext cx="5458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Scores and acts on every customer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1298448" y="4498848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the four classic typologies, bands each customer low / medium / high, and recommends monitor · review · report (SAR).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66928" y="5157216"/>
            <a:ext cx="548640" cy="548640"/>
          </a:xfrm>
          <a:prstGeom prst="ellipse">
            <a:avLst/>
          </a:prstGeom>
          <a:solidFill>
            <a:srgbClr val="12271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294376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98448" y="5102352"/>
            <a:ext cx="5458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Explains every flag — and never goes down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1298448" y="5413248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flag quotes the exact figures that fired it. Runs with or without an LLM key: a deterministic engine is the automatic fallback.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059168" y="3291840"/>
            <a:ext cx="2173072" cy="1261872"/>
          </a:xfrm>
          <a:prstGeom prst="roundRect">
            <a:avLst>
              <a:gd name="adj" fmla="val 6522"/>
            </a:avLst>
          </a:prstGeom>
          <a:solidFill>
            <a:srgbClr val="172033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511296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296912" y="3822192"/>
            <a:ext cx="1715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B8DE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40K+</a:t>
            </a:r>
            <a:endParaRPr lang="en-US" sz="2500" dirty="0"/>
          </a:p>
        </p:txBody>
      </p:sp>
      <p:sp>
        <p:nvSpPr>
          <p:cNvPr id="34" name="Text 27"/>
          <p:cNvSpPr txBox="1"/>
          <p:nvPr/>
        </p:nvSpPr>
        <p:spPr>
          <a:xfrm>
            <a:off x="7315200" y="4224528"/>
            <a:ext cx="169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 scored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800 customers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9451696" y="3291840"/>
            <a:ext cx="2173072" cy="1261872"/>
          </a:xfrm>
          <a:prstGeom prst="roundRect">
            <a:avLst>
              <a:gd name="adj" fmla="val 6522"/>
            </a:avLst>
          </a:prstGeom>
          <a:solidFill>
            <a:srgbClr val="172033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7728" y="3511296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689440" y="3822192"/>
            <a:ext cx="1715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BF9E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4</a:t>
            </a:r>
            <a:endParaRPr lang="en-US" sz="2500" dirty="0"/>
          </a:p>
        </p:txBody>
      </p:sp>
      <p:sp>
        <p:nvSpPr>
          <p:cNvPr id="38" name="Text 30"/>
          <p:cNvSpPr txBox="1"/>
          <p:nvPr/>
        </p:nvSpPr>
        <p:spPr>
          <a:xfrm>
            <a:off x="9707728" y="4224528"/>
            <a:ext cx="169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laundering typologies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end-to-end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7059168" y="4773168"/>
            <a:ext cx="2173072" cy="1261872"/>
          </a:xfrm>
          <a:prstGeom prst="roundRect">
            <a:avLst>
              <a:gd name="adj" fmla="val 6522"/>
            </a:avLst>
          </a:prstGeom>
          <a:solidFill>
            <a:srgbClr val="172033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4992624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296912" y="5303520"/>
            <a:ext cx="1715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BF9E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P·R·F1</a:t>
            </a:r>
            <a:endParaRPr lang="en-US" sz="2500" dirty="0"/>
          </a:p>
        </p:txBody>
      </p:sp>
      <p:sp>
        <p:nvSpPr>
          <p:cNvPr id="42" name="Text 33"/>
          <p:cNvSpPr txBox="1"/>
          <p:nvPr/>
        </p:nvSpPr>
        <p:spPr>
          <a:xfrm>
            <a:off x="7315200" y="5705856"/>
            <a:ext cx="169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vs injected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truth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9451696" y="4773168"/>
            <a:ext cx="2173072" cy="1261872"/>
          </a:xfrm>
          <a:prstGeom prst="roundRect">
            <a:avLst>
              <a:gd name="adj" fmla="val 6522"/>
            </a:avLst>
          </a:prstGeom>
          <a:solidFill>
            <a:srgbClr val="172033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7728" y="4992624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689440" y="5303520"/>
            <a:ext cx="1715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B8DEF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41</a:t>
            </a:r>
            <a:endParaRPr lang="en-US" sz="2500" dirty="0"/>
          </a:p>
        </p:txBody>
      </p:sp>
      <p:sp>
        <p:nvSpPr>
          <p:cNvPr id="46" name="Text 36"/>
          <p:cNvSpPr txBox="1"/>
          <p:nvPr/>
        </p:nvSpPr>
        <p:spPr>
          <a:xfrm>
            <a:off x="9707728" y="5705856"/>
            <a:ext cx="169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tests · one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image · live demo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566928" y="62362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BF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 </a:t>
            </a:r>
            <a:pPr algn="l" indent="0" marL="0">
              <a:buNone/>
            </a:pPr>
            <a:r>
              <a:rPr lang="en-US" sz="1200" dirty="0">
                <a:solidFill>
                  <a:srgbClr val="C4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anomaleye.onrender.com</a:t>
            </a:r>
            <a:pPr algn="l" indent="0" marL="0">
              <a:buNone/>
            </a:pPr>
            <a:r>
              <a:rPr lang="en-US" sz="1200" dirty="0">
                <a:solidFill>
                  <a:srgbClr val="8B9A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Built with  </a:t>
            </a:r>
            <a:pPr algn="l" indent="0" marL="0">
              <a:buNone/>
            </a:pPr>
            <a:r>
              <a:rPr lang="en-US" sz="1200" dirty="0">
                <a:solidFill>
                  <a:srgbClr val="C4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· scikit-learn · Groq LLM · React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AnomalEye</dc:title>
  <dc:subject>PptxGenJS Presentation</dc:subject>
  <dc:creator>Perinba Athiban</dc:creator>
  <cp:lastModifiedBy>Perinba Athiban</cp:lastModifiedBy>
  <cp:revision>1</cp:revision>
  <dcterms:created xsi:type="dcterms:W3CDTF">2026-09-01T17:27:04Z</dcterms:created>
  <dcterms:modified xsi:type="dcterms:W3CDTF">2026-09-01T17:27:04Z</dcterms:modified>
</cp:coreProperties>
</file>